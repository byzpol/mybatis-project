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3D7BD9"/>
                </a:solidFill>
                <a:latin typeface="微软雅黑"/>
                <a:ea typeface="微软雅黑"/>
                <a:cs typeface="微软雅黑"/>
              </a:rPr>
              <a:t>JAVA 框架技术（一）· 课程项目设计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109115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基于 SSM 整合升级的</a:t>
            </a:r>
          </a:p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企业级 CMS 内容管理系统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10128"/>
            <a:ext cx="9997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4A5568"/>
                </a:solidFill>
                <a:latin typeface="Times New Roman"/>
                <a:ea typeface="Times New Roman"/>
                <a:cs typeface="Times New Roman"/>
              </a:rPr>
              <a:t>Enterprise Content Management System based on SSM</a:t>
            </a:r>
          </a:p>
        </p:txBody>
      </p:sp>
      <p:sp>
        <p:nvSpPr>
          <p:cNvPr id="8" name="Rectangle 7"/>
          <p:cNvSpPr/>
          <p:nvPr/>
        </p:nvSpPr>
        <p:spPr>
          <a:xfrm>
            <a:off x="5272887" y="3803904"/>
            <a:ext cx="1645920" cy="2743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041648"/>
            <a:ext cx="999713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7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文章内容与多级审核发布　·　公共基础设施建设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956048"/>
            <a:ext cx="99971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课程：JAVA 框架技术（一）　　小组：4 人协作</a:t>
            </a:r>
            <a:r>
              <a:rPr sz="14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汇报人：组长（文章域 + 公共基础设施）　　2026-11-13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327648"/>
            <a:ext cx="99971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技术栈：Spring 5.3.31 + SpringMVC + MyBatis-Plus 3.5.5 + Druid + MySQL 9.5 + Vue3/Vite ｜ Tomcat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3D7BD9"/>
                </a:solidFill>
                <a:latin typeface="微软雅黑"/>
                <a:ea typeface="微软雅黑"/>
                <a:cs typeface="微软雅黑"/>
              </a:rPr>
              <a:t>01　项目背景与定位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这不是「文章发布网站」，是带审批流转的内容运营后台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7295" cy="10972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89410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企业级 CMS 内容管理系统 ｜ 文章内容与多级审核发布 · 公共基础设施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02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98448"/>
            <a:ext cx="5760720" cy="2148840"/>
          </a:xfrm>
          <a:prstGeom prst="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98448"/>
            <a:ext cx="5760720" cy="5486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81328"/>
            <a:ext cx="543153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定位澄清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65376"/>
            <a:ext cx="5431536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普通博客：</a:t>
            </a: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写完即可发布，核心是「编辑」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本系统：</a:t>
            </a: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每篇内容都要过审才能上线，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核心是「流程 + 权限」</a:t>
            </a:r>
          </a:p>
          <a:p>
            <a:pPr algn="l">
              <a:lnSpc>
                <a:spcPct val="140000"/>
              </a:lnSpc>
            </a:pPr>
            <a:r>
              <a:rPr sz="6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性质：</a:t>
            </a: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不是内容展示站，而是内容运营后台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84448"/>
            <a:ext cx="5760720" cy="2697480"/>
          </a:xfrm>
          <a:prstGeom prst="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84448"/>
            <a:ext cx="5760720" cy="5486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767328"/>
            <a:ext cx="543153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四个业务域（我负责第 1 个 + 公共基础设施）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151376"/>
            <a:ext cx="5431536" cy="1984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① 文章内容与多级审核发布</a:t>
            </a:r>
            <a:r>
              <a:rPr sz="1200" b="0">
                <a:solidFill>
                  <a:srgbClr val="D9534F"/>
                </a:solidFill>
                <a:latin typeface="微软雅黑"/>
                <a:ea typeface="微软雅黑"/>
                <a:cs typeface="微软雅黑"/>
              </a:rPr>
              <a:t>　← 我负责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② 内容分类与标签体系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③ 用户角色权限与授权审批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④ 操作日志审计与数据检索统计</a:t>
            </a:r>
          </a:p>
          <a:p>
            <a:pPr algn="l">
              <a:lnSpc>
                <a:spcPct val="140000"/>
              </a:lnSpc>
            </a:pPr>
            <a:r>
              <a:rPr sz="5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公共基础设施由我建设并冻结（主干 trunk-v1.0）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1298448"/>
            <a:ext cx="5285232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481328"/>
            <a:ext cx="48280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项目规模（实测统计）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847088"/>
            <a:ext cx="4828032" cy="10972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048256"/>
            <a:ext cx="22860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46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77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706624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后端 Java 文件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048256"/>
            <a:ext cx="23774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44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706624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前端文件（18 vue + 7 js）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310128"/>
            <a:ext cx="22860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46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968496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数据库表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310128"/>
            <a:ext cx="23774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44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968496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REST 接口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572000"/>
            <a:ext cx="22860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46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321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230368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单元测试用例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4572000"/>
            <a:ext cx="23774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44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5230368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份过程实测记录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760720"/>
            <a:ext cx="4828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数据来源：docs/结题报告.md 与 sql/init.sql，可现场核对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3D7BD9"/>
                </a:solidFill>
                <a:latin typeface="微软雅黑"/>
                <a:ea typeface="微软雅黑"/>
                <a:cs typeface="微软雅黑"/>
              </a:rPr>
              <a:t>02　需求分析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评分表点名的 7 个核心场景，逐条有功能承接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7295" cy="10972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89410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企业级 CMS 内容管理系统 ｜ 文章内容与多级审核发布 · 公共基础设施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03 / 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98448"/>
          <a:ext cx="11277293" cy="4242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"/>
                <a:gridCol w="1578821"/>
                <a:gridCol w="5638647"/>
                <a:gridCol w="3495961"/>
              </a:tblGrid>
              <a:tr h="53035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#</a:t>
                      </a:r>
                    </a:p>
                  </a:txBody>
                  <a:tcPr marL="73152" marR="73152" anchor="ctr"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核心场景</a:t>
                      </a:r>
                    </a:p>
                  </a:txBody>
                  <a:tcPr marL="73152" marR="73152" anchor="ctr"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承接功能</a:t>
                      </a:r>
                    </a:p>
                  </a:txBody>
                  <a:tcPr marL="73152" marR="73152" anchor="ctr"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交付状态</a:t>
                      </a:r>
                    </a:p>
                  </a:txBody>
                  <a:tcPr marL="73152" marR="73152" anchor="ctr">
                    <a:solidFill>
                      <a:srgbClr val="1E4FA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文章发布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建稿 / 改稿 / 提交 / 发布 / 排期 / 撤回 / 下架 / 归档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D953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我（已交付 16 个接口）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分类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分类树 / 分类审批 / 标签维护 / 文章打标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成员B（表与权限码已就绪）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审核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编辑初审 / 主编终审 / 审核流水 / 驳回回退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D953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我（已交付）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用户管理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 CRUD / 角色分配 / 授权审批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成员C（表已就绪）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权限管控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RBAC 四角色 + 细粒度权限 + 防越权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D953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我（基础设施部分已交付）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数据检索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分页检索 / 多条件筛选 / 排序白名单 / 统计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D953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我（文章域已交付）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日志记录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AOP 自动埋点 / 操作日志 / 登录日志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D953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我（埋点已交付）/ 查询属成员D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577840"/>
            <a:ext cx="11277295" cy="47548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669279"/>
            <a:ext cx="108749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七个场景全部有 P0 功能承接，无遗漏；「★」为本仓库实际交付部分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3D7BD9"/>
                </a:solidFill>
                <a:latin typeface="微软雅黑"/>
                <a:ea typeface="微软雅黑"/>
                <a:cs typeface="微软雅黑"/>
              </a:rPr>
              <a:t>03　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四人协作的关键：主干冻结 + 入户线固定动作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7295" cy="10972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89410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企业级 CMS 内容管理系统 ｜ 文章内容与多级审核发布 · 公共基础设施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04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98448"/>
            <a:ext cx="4572000" cy="40233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4114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主干（我维护 · 已冻结）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4708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tag trunk-v1.0 | 只许加方法，不许改签名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12848"/>
            <a:ext cx="4114800" cy="34747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2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config（配置四件套）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42615"/>
            <a:ext cx="4114800" cy="34747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2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common（返回体/错误码/状态机）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72384"/>
            <a:ext cx="4114800" cy="34747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2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base（通用基类/填充器）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02152"/>
            <a:ext cx="4114800" cy="34747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2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annotation（权限/日志注解）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931920"/>
            <a:ext cx="4114800" cy="34747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2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aspect（权限切面/日志切面）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61688"/>
            <a:ext cx="4114800" cy="34747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2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interceptor（登录拦截）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791456"/>
            <a:ext cx="4114800" cy="34747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2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util（工具类）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1298448"/>
            <a:ext cx="63825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入户线：新增业务域的固定动作（6 层）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49240" y="1737360"/>
            <a:ext cx="638251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49240" y="1737360"/>
            <a:ext cx="64008" cy="47548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41264" y="1828800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controller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1847088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只做参数接收与结果包装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9240" y="2304288"/>
            <a:ext cx="638251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9240" y="2304288"/>
            <a:ext cx="64008" cy="47548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41264" y="2395728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2414016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业务编排 + 事务 + 状态机调用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49240" y="2871215"/>
            <a:ext cx="638251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49240" y="2871215"/>
            <a:ext cx="64008" cy="47548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41264" y="2962656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mapper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2980944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SQL 与逻辑删除条件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49240" y="3438144"/>
            <a:ext cx="638251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49240" y="3438144"/>
            <a:ext cx="64008" cy="47548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41264" y="3529584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entity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3547872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表映射 + 审计字段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49240" y="4005072"/>
            <a:ext cx="638251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349240" y="4005072"/>
            <a:ext cx="64008" cy="47548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41264" y="4096511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dto / vo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411480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入参校验 / 出参裁剪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577840"/>
            <a:ext cx="11277295" cy="47548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5669279"/>
            <a:ext cx="108749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主干冻结后，新增业务域「主干不用改一行」——这是四人并行不互相踩的关键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3D7BD9"/>
                </a:solidFill>
                <a:latin typeface="微软雅黑"/>
                <a:ea typeface="微软雅黑"/>
                <a:cs typeface="微软雅黑"/>
              </a:rPr>
              <a:t>04　数据库设计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17 张表 · 统一规范 · 逻辑删除与唯一键的冲突解法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7295" cy="10972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89410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企业级 CMS 内容管理系统 ｜ 文章内容与多级审核发布 · 公共基础设施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05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98448"/>
            <a:ext cx="3291840" cy="40233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54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张表（评分表硬约束为六表关联）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798064"/>
            <a:ext cx="2286000" cy="10972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44368"/>
            <a:ext cx="28346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35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9</a:t>
            </a: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 个唯一键全部含 deleted 末列</a:t>
            </a:r>
          </a:p>
          <a:p>
            <a:pPr algn="l">
              <a:lnSpc>
                <a:spcPct val="170000"/>
              </a:lnSpc>
            </a:pPr>
            <a:r>
              <a:rPr sz="135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48</a:t>
            </a: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 条角色-权限绑定</a:t>
            </a:r>
          </a:p>
          <a:p>
            <a:pPr algn="l">
              <a:lnSpc>
                <a:spcPct val="170000"/>
              </a:lnSpc>
            </a:pPr>
            <a:r>
              <a:rPr sz="135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20</a:t>
            </a: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 文章 / </a:t>
            </a:r>
            <a:r>
              <a:rPr sz="135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10</a:t>
            </a: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 版本快照种子</a:t>
            </a:r>
          </a:p>
          <a:p>
            <a:pPr algn="l">
              <a:lnSpc>
                <a:spcPct val="170000"/>
              </a:lnSpc>
            </a:pPr>
            <a:r>
              <a:rPr sz="135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10</a:t>
            </a: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 个状态各就各位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9" y="1298448"/>
            <a:ext cx="7754112" cy="1938528"/>
          </a:xfrm>
          <a:prstGeom prst="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77639" y="1298448"/>
            <a:ext cx="7754112" cy="5486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2231" y="1481328"/>
            <a:ext cx="7424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统一规范（17 张表无一例外）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2231" y="1865376"/>
            <a:ext cx="7424928" cy="1225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主键 id + 审计四字段（create_by / create_time / update_by / update_time）+ deleted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InnoDB；utf8mb4；9 个唯一键含逻辑删除位；热点筛选建复合索引并逐条 EXPLAIN 验证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杜绝单表开发：列表关联分类名与作者名、详情关联标签、流水关联文章与用户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77639" y="3364992"/>
            <a:ext cx="7754112" cy="1956816"/>
          </a:xfrm>
          <a:prstGeom prst="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77639" y="3364992"/>
            <a:ext cx="7754112" cy="54864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42231" y="3547872"/>
            <a:ext cx="7424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★ 逻辑删除与唯一索引冲突的解法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2231" y="3931920"/>
            <a:ext cx="7424928" cy="12435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D9534F"/>
                </a:solidFill>
                <a:latin typeface="微软雅黑"/>
                <a:ea typeface="微软雅黑"/>
                <a:cs typeface="微软雅黑"/>
              </a:rPr>
              <a:t>问题：</a:t>
            </a: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逻辑删除后行还在，唯一键仍占着值 → 新建同名失败</a:t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解法：</a:t>
            </a: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把 deleted 追加为唯一键最后一列 → uk_username(username, deleted)</a:t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D9534F"/>
                </a:solidFill>
                <a:latin typeface="微软雅黑"/>
                <a:ea typeface="微软雅黑"/>
                <a:cs typeface="微软雅黑"/>
              </a:rPr>
              <a:t>代价（主动说明）：</a:t>
            </a: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deleted 只有 0/1，同一值只能被删一次；更严格做法是换成删除时间戳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3D7BD9"/>
                </a:solidFill>
                <a:latin typeface="微软雅黑"/>
                <a:ea typeface="微软雅黑"/>
                <a:cs typeface="微软雅黑"/>
              </a:rPr>
              <a:t>05　状态机设计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10 个状态、14 条迁移，全部集中在一个类里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7295" cy="10972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89410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企业级 CMS 内容管理系统 ｜ 文章内容与多级审核发布 · 公共基础设施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06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709928" cy="932688"/>
          </a:xfrm>
          <a:prstGeom prst="roundRect">
            <a:avLst>
              <a:gd name="adj" fmla="val 2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1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草稿
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1673352"/>
            <a:ext cx="146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3D7BD9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13432" y="1371600"/>
            <a:ext cx="1709928" cy="932688"/>
          </a:xfrm>
          <a:prstGeom prst="roundRect">
            <a:avLst>
              <a:gd name="adj" fmla="val 28000"/>
            </a:avLst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1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提交初审
PENDING
EDITOR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673352"/>
            <a:ext cx="146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3D7BD9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9664" y="1371600"/>
            <a:ext cx="1709928" cy="932688"/>
          </a:xfrm>
          <a:prstGeom prst="roundRect">
            <a:avLst>
              <a:gd name="adj" fmla="val 2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1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主编终审
PENDING
CHIEF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9592" y="1673352"/>
            <a:ext cx="146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3D7BD9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25896" y="1371600"/>
            <a:ext cx="1709928" cy="932688"/>
          </a:xfrm>
          <a:prstGeom prst="roundRect">
            <a:avLst>
              <a:gd name="adj" fmla="val 28000"/>
            </a:avLst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1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已通过
APPROVED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24" y="1673352"/>
            <a:ext cx="146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3D7BD9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8" y="1371600"/>
            <a:ext cx="1709928" cy="932688"/>
          </a:xfrm>
          <a:prstGeom prst="roundRect">
            <a:avLst>
              <a:gd name="adj" fmla="val 2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1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已发布
PUBLISHED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92056" y="1673352"/>
            <a:ext cx="146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3D7BD9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60" y="1371600"/>
            <a:ext cx="1709928" cy="932688"/>
          </a:xfrm>
          <a:prstGeom prst="roundRect">
            <a:avLst>
              <a:gd name="adj" fmla="val 28000"/>
            </a:avLst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1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已撤回/下架
WITHDRAWN
OFFLINE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468880"/>
            <a:ext cx="112772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全部迁移集中在 common/ArticleStateMachine（383 行），对外只有 transfer(status, action) 一个入口；Service 层不许自己写 if (status == 0) 判断能不能提交。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907792"/>
            <a:ext cx="3602736" cy="2414016"/>
          </a:xfrm>
          <a:prstGeom prst="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907792"/>
            <a:ext cx="3602736" cy="5486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090672"/>
            <a:ext cx="32735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好处一：改流程只改一处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3474720"/>
            <a:ext cx="3273552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加/改一条流转只动一个文件，不用翻遍全项目找散落的 if-else。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每条迁移自带 description（如「提交初审」），界面按钮文案直接从状态机取。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2907792"/>
            <a:ext cx="3602736" cy="2414016"/>
          </a:xfrm>
          <a:prstGeom prst="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2907792"/>
            <a:ext cx="3602736" cy="5486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3090672"/>
            <a:ext cx="32735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好处二：非法流转统一拦截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3474720"/>
            <a:ext cx="3273552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不合法流转统一抛错误码 11002，不用每个方法各写一遍判断。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每条迁移带所需角色：初审只能编辑推、终审只能主编推。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2907792"/>
            <a:ext cx="3593592" cy="2414016"/>
          </a:xfrm>
          <a:prstGeom prst="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2907792"/>
            <a:ext cx="3593592" cy="54864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2752" y="3090672"/>
            <a:ext cx="32644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★ 三条最容易写错的规则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3474720"/>
            <a:ext cx="3264408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SCHEDULED(6) 只有定时任务能推进</a:t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D9534F"/>
                </a:solidFill>
                <a:latin typeface="微软雅黑"/>
                <a:ea typeface="微软雅黑"/>
                <a:cs typeface="微软雅黑"/>
              </a:rPr>
              <a:t>OFFLINE(8) 只有归档一条出边 —— 下架不可逆</a:t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ARCHIVED(9) 是终态，没有出边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撤回是可逆的，撤回后可重新发布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577840"/>
            <a:ext cx="11277295" cy="47548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669279"/>
            <a:ext cx="108749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演示时会现场跑一遍：驳回 → 改稿 → 重新提交 → 初审 → 终审，验证状态机每一步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3D7BD9"/>
                </a:solidFill>
                <a:latin typeface="微软雅黑"/>
                <a:ea typeface="微软雅黑"/>
                <a:cs typeface="微软雅黑"/>
              </a:rPr>
              <a:t>06　关键流程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从投稿到上线：每一步都可追溯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7295" cy="10972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89410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企业级 CMS 内容管理系统 ｜ 文章内容与多级审核发布 · 公共基础设施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07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709928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709928" cy="5486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17904"/>
            <a:ext cx="14904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投稿人建稿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47088"/>
            <a:ext cx="152704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DRAFT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3432" y="1371600"/>
            <a:ext cx="1709928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3432" y="1371600"/>
            <a:ext cx="1709928" cy="5486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1517904"/>
            <a:ext cx="14904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提交初审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4872" y="1847088"/>
            <a:ext cx="152704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PENDING_EDITOR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9664" y="1371600"/>
            <a:ext cx="1709928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9664" y="1371600"/>
            <a:ext cx="1709928" cy="5486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9392" y="1517904"/>
            <a:ext cx="14904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编辑初审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1104" y="1847088"/>
            <a:ext cx="152704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通过 → PENDING_CHIEF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25896" y="1371600"/>
            <a:ext cx="1709928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25896" y="1371600"/>
            <a:ext cx="1709928" cy="5486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4" y="1517904"/>
            <a:ext cx="14904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主编终审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17336" y="1847088"/>
            <a:ext cx="152704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通过 → APPROVED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82128" y="1371600"/>
            <a:ext cx="1709928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82128" y="1371600"/>
            <a:ext cx="1709928" cy="5486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91856" y="1517904"/>
            <a:ext cx="14904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发布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8" y="1847088"/>
            <a:ext cx="152704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立即 or 排期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38360" y="1371600"/>
            <a:ext cx="1709928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38360" y="1371600"/>
            <a:ext cx="1709928" cy="5486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48088" y="1517904"/>
            <a:ext cx="14904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撤回 / 下架 / 归档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1847088"/>
            <a:ext cx="152704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终态可归档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743200"/>
            <a:ext cx="5394960" cy="2578608"/>
          </a:xfrm>
          <a:prstGeom prst="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2743200"/>
            <a:ext cx="5394960" cy="5486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2926080"/>
            <a:ext cx="506577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每一步都留痕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3310128"/>
            <a:ext cx="5065776" cy="18653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每次审核（通过 / 驳回）都写一条审核流水到 cms_article_audit_log。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记录谁、何时、什么动作、什么意见 —— 详情页可视化时间线。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驳回必须填意见，否则 11014（后端校验，不是只靠前端提示）。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版本快照：每次发布前留快照，可回滚，回滚本身也生成新快照。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2743200"/>
            <a:ext cx="5650992" cy="2578608"/>
          </a:xfrm>
          <a:prstGeom prst="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80760" y="2743200"/>
            <a:ext cx="5650992" cy="54864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45352" y="2926080"/>
            <a:ext cx="532180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★ 失败形态清晰，排查不靠猜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2" y="3310128"/>
            <a:ext cx="5321807" cy="18653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1">
                <a:solidFill>
                  <a:srgbClr val="D9534F"/>
                </a:solidFill>
                <a:latin typeface="微软雅黑"/>
                <a:ea typeface="微软雅黑"/>
                <a:cs typeface="微软雅黑"/>
              </a:rPr>
              <a:t>状态非法 → 11002　｜　越权 → 11003　｜　自审 → 11004</a:t>
            </a:r>
          </a:p>
          <a:p>
            <a:pPr algn="l">
              <a:lnSpc>
                <a:spcPct val="140000"/>
              </a:lnSpc>
            </a:pPr>
            <a:r>
              <a:rPr sz="1350" b="1">
                <a:solidFill>
                  <a:srgbClr val="D9534F"/>
                </a:solidFill>
                <a:latin typeface="微软雅黑"/>
                <a:ea typeface="微软雅黑"/>
                <a:cs typeface="微软雅黑"/>
              </a:rPr>
              <a:t>驳回无意见 → 11014　｜　已归档只读 → 11011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乐观锁冲突 → 11010（并发编辑同一篇时拒绝覆盖）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所有业务码保持 HTTP 200，只有参数错/未登录/无权限才动 HTTP 状态码。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577840"/>
            <a:ext cx="11277295" cy="47548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669279"/>
            <a:ext cx="108749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主链已用 321 个单元测试 + 12 项真机回归覆盖，496 条断言 FAIL = 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3D7BD9"/>
                </a:solidFill>
                <a:latin typeface="微软雅黑"/>
                <a:ea typeface="微软雅黑"/>
                <a:cs typeface="微软雅黑"/>
              </a:rPr>
              <a:t>07　关键技术难点（一）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三个「静默失效」陷阱：不报错，但根本没生效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7295" cy="10972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89410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企业级 CMS 内容管理系统 ｜ 文章内容与多级审核发布 · 公共基础设施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08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98448"/>
            <a:ext cx="3602736" cy="4023360"/>
          </a:xfrm>
          <a:prstGeom prst="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98448"/>
            <a:ext cx="3602736" cy="54864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81328"/>
            <a:ext cx="32735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① Lombok 静默失效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65376"/>
            <a:ext cx="3273552" cy="3310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D9534F"/>
                </a:solidFill>
                <a:latin typeface="微软雅黑"/>
                <a:ea typeface="微软雅黑"/>
                <a:cs typeface="微软雅黑"/>
              </a:rPr>
              <a:t>现象：</a:t>
            </a: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编译报「找不到 getter/setter」，一看代码全对</a:t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根因：</a:t>
            </a: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JDK 23+ 的 javac 默认不再自动运行注解处理器</a:t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解决：</a:t>
            </a: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编译参数显式加 &lt;arg&gt;-proc:full&lt;/arg&gt;</a:t>
            </a:r>
          </a:p>
          <a:p>
            <a:pPr algn="l">
              <a:lnSpc>
                <a:spcPct val="140000"/>
              </a:lnSpc>
            </a:pPr>
            <a:r>
              <a:rPr sz="6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本机 Maven 跑在 JDK 25 上，不加这个参数，Lombok 完全不起作用。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98448"/>
            <a:ext cx="3602736" cy="4023360"/>
          </a:xfrm>
          <a:prstGeom prst="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98448"/>
            <a:ext cx="3602736" cy="54864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481328"/>
            <a:ext cx="32735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② updateById 跳过 null 字段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1865376"/>
            <a:ext cx="3273552" cy="3310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D9534F"/>
                </a:solidFill>
                <a:latin typeface="微软雅黑"/>
                <a:ea typeface="微软雅黑"/>
                <a:cs typeface="微软雅黑"/>
              </a:rPr>
              <a:t>现象：</a:t>
            </a: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界面显示「已清空」，返 200，但库里没改</a:t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根因：</a:t>
            </a: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MP 默认 FieldStrategy.NOT_NULL，null 字段不进 SET</a:t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解决：</a:t>
            </a: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用 LambdaUpdateWrapper.set(...) 显式列出每一列</a:t>
            </a:r>
          </a:p>
          <a:p>
            <a:pPr algn="l">
              <a:lnSpc>
                <a:spcPct val="140000"/>
              </a:lnSpc>
            </a:pPr>
            <a:r>
              <a:rPr sz="6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同类问题：removeById 的逻辑删除 SQL 里 SET 只有 deleted=1，看不出是谁删的。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298448"/>
            <a:ext cx="3593592" cy="4023360"/>
          </a:xfrm>
          <a:prstGeom prst="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298448"/>
            <a:ext cx="3593592" cy="54864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481328"/>
            <a:ext cx="32644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③ 审计填充器两个坑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865376"/>
            <a:ext cx="3264408" cy="3310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D9534F"/>
                </a:solidFill>
                <a:latin typeface="微软雅黑"/>
                <a:ea typeface="微软雅黑"/>
                <a:cs typeface="微软雅黑"/>
              </a:rPr>
              <a:t>坑一：</a:t>
            </a: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INSERT 要用 strictInsertFill，UPDATE 必须用 setFieldValByName 无条件覆盖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否则报 Column 'update_time' cannot be null。</a:t>
            </a:r>
          </a:p>
          <a:p>
            <a:pPr algn="l">
              <a:lnSpc>
                <a:spcPct val="140000"/>
              </a:lnSpc>
            </a:pPr>
            <a:r>
              <a:rPr sz="6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D9534F"/>
                </a:solidFill>
                <a:latin typeface="微软雅黑"/>
                <a:ea typeface="微软雅黑"/>
                <a:cs typeface="微软雅黑"/>
              </a:rPr>
              <a:t>坑二：</a:t>
            </a: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deleted 必须显式填 0（MP 会把它写进 INSERT 列表，DB 的 DEFAULT 失效）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拿不到用户时填哨兵值 0，不填 null。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577840"/>
            <a:ext cx="11277295" cy="47548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669279"/>
            <a:ext cx="108749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判据：判断一个方法有没有真的执行，最可靠的是日志里有没有它的 SQL（Preparing:）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3D7BD9"/>
                </a:solidFill>
                <a:latin typeface="微软雅黑"/>
                <a:ea typeface="微软雅黑"/>
                <a:cs typeface="微软雅黑"/>
              </a:rPr>
              <a:t>07　关键技术难点（二）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分页不放大 count、定时任务没有登录上下文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7295" cy="10972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89410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企业级 CMS 内容管理系统 ｜ 文章内容与多级审核发布 · 公共基础设施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09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分页方案 A / B 对比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664208"/>
          <a:ext cx="11277293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1004"/>
                <a:gridCol w="3383188"/>
                <a:gridCol w="3383188"/>
                <a:gridCol w="2029913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</a:t>
                      </a:r>
                    </a:p>
                  </a:txBody>
                  <a:tcPr marL="73152" marR="73152" anchor="ctr"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SQL 形态</a:t>
                      </a:r>
                    </a:p>
                  </a:txBody>
                  <a:tcPr marL="73152" marR="73152" anchor="ctr"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count 准不准</a:t>
                      </a:r>
                    </a:p>
                  </a:txBody>
                  <a:tcPr marL="73152" marR="73152" anchor="ctr"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结论</a:t>
                      </a:r>
                    </a:p>
                  </a:txBody>
                  <a:tcPr marL="73152" marR="73152" anchor="ctr">
                    <a:solidFill>
                      <a:srgbClr val="1E4FA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· JOIN 分页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文章 JOIN 标签后分页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953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不准（一对多放大行数，总页数虚高）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不用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 · 主表分页 + 批量填充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主表 LIMIT 后一次 IN 补名称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准确；实测有数据页 3~4 条 SQL、空页 1 条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953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采用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3310128"/>
            <a:ext cx="5486400" cy="2011680"/>
          </a:xfrm>
          <a:prstGeom prst="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310128"/>
            <a:ext cx="5486400" cy="5486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493008"/>
            <a:ext cx="51572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配套的防注入与上限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877056"/>
            <a:ext cx="5157216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排序字段走白名单，不在白名单里的直接返回 HTTP 400。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分页 size 上限 100，超出截断而非报错。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时区统一：连接串带 serverTimezone=Asia/Shanghai，实测服务端与本机差 1 秒。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310128"/>
            <a:ext cx="5559552" cy="2011680"/>
          </a:xfrm>
          <a:prstGeom prst="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310128"/>
            <a:ext cx="5559552" cy="54864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493008"/>
            <a:ext cx="5230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★ 定时任务无请求上下文怎么办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3877056"/>
            <a:ext cx="5230368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排期发布由 @Scheduled 每分钟扫描触发，拿不到登录用户。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做法：getCurrentUserId() 捕获异常并返回哨兵值 0（SYSTEM_USER_ID）。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实测：110 秒内自动发布，publisher_id = 0、schedule_time 被清空。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D9534F"/>
                </a:solidFill>
                <a:latin typeface="微软雅黑"/>
                <a:ea typeface="微软雅黑"/>
                <a:cs typeface="微软雅黑"/>
              </a:rPr>
              <a:t>已知局限：单机内存调度，多实例会重复触发（需分布式调度）。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577840"/>
            <a:ext cx="11277295" cy="47548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669279"/>
            <a:ext cx="108749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「系统发的」与「人发的」在数据上可区分 —— 这就是填哨兵值而不是 null 的理由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3D7BD9"/>
                </a:solidFill>
                <a:latin typeface="微软雅黑"/>
                <a:ea typeface="微软雅黑"/>
                <a:cs typeface="微软雅黑"/>
              </a:rPr>
              <a:t>08　权限体系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权限码管「能不能做这类事」，归属校验管「能不能动这条数据」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7295" cy="10972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89410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企业级 CMS 内容管理系统 ｜ 文章内容与多级审核发布 · 公共基础设施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10 / 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98448"/>
          <a:ext cx="667511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526"/>
                <a:gridCol w="2002536"/>
                <a:gridCol w="3204057"/>
              </a:tblGrid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现象</a:t>
                      </a:r>
                    </a:p>
                  </a:txBody>
                  <a:tcPr marL="73152" marR="73152" anchor="ctr"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谁拦的</a:t>
                      </a:r>
                    </a:p>
                  </a:txBody>
                  <a:tcPr marL="73152" marR="73152" anchor="ctr"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 marL="73152" marR="73152" anchor="ctr">
                    <a:solidFill>
                      <a:srgbClr val="1E4F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HTTP 401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LoginInterceptor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没登录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HTTP 403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PermissionAspect（AOP）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D953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垂直越权被拦：有登录、没权限码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HTTP 200 + 11003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Service checkOwnership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D953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水平越权被拦：有权限码、数据不是你的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HTTP 200 + 11004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Service 防自审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不能审核自己提交的文章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406640" y="1298448"/>
            <a:ext cx="4325112" cy="301752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481328"/>
            <a:ext cx="3886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RBAC 权限结构（库表为准）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847088"/>
            <a:ext cx="3886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4</a:t>
            </a: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 个角色　　</a:t>
            </a:r>
            <a:r>
              <a:rPr sz="15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20</a:t>
            </a: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 个权限码</a:t>
            </a:r>
          </a:p>
          <a:p>
            <a:pPr algn="l">
              <a:lnSpc>
                <a:spcPct val="155000"/>
              </a:lnSpc>
            </a:pPr>
            <a:r>
              <a:rPr sz="15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48</a:t>
            </a: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 条角色-权限绑定</a:t>
            </a:r>
          </a:p>
          <a:p>
            <a:pPr algn="l">
              <a:lnSpc>
                <a:spcPct val="155000"/>
              </a:lnSpc>
            </a:pPr>
            <a:r>
              <a:rPr sz="6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AUTHOR 7　EDITOR 9　CHIEF 12　ADMIN 20</a:t>
            </a:r>
          </a:p>
          <a:p>
            <a:pPr algn="l">
              <a:lnSpc>
                <a:spcPct val="155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article:publish 只有主编与管理员有</a:t>
            </a:r>
          </a:p>
          <a:p>
            <a:pPr algn="l">
              <a:lnSpc>
                <a:spcPct val="155000"/>
              </a:lnSpc>
            </a:pPr>
            <a:r>
              <a:rPr sz="6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2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唯一真相是 sys_permission 表，不是文档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498848"/>
            <a:ext cx="5486400" cy="822960"/>
          </a:xfrm>
          <a:prstGeom prst="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498848"/>
            <a:ext cx="5486400" cy="5486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4681727"/>
            <a:ext cx="515721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为什么用 AOP 而不是每个方法写 if：权限是横切关注点，写成注解 @RequirePermission 后，加权限不改业务代码、也漏不掉。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4498848"/>
            <a:ext cx="5559552" cy="822960"/>
          </a:xfrm>
          <a:prstGeom prst="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4498848"/>
            <a:ext cx="5559552" cy="54864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4681727"/>
            <a:ext cx="5230368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刻意保留的行为：checkOwnership 无超管短路且排在归档只读之前 —— 对别人的已归档文章调撤回，报 11003 而非 11011。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577840"/>
            <a:ext cx="11277295" cy="47548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669279"/>
            <a:ext cx="108749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现场演示：用 author 的会话调审核接口出 403；撤回 author2 的文章出 11003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3D7BD9"/>
                </a:solidFill>
                <a:latin typeface="微软雅黑"/>
                <a:ea typeface="微软雅黑"/>
                <a:cs typeface="微软雅黑"/>
              </a:rPr>
              <a:t>09　工程规范与质量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56 条规范自检 + 321 个用例 + 496 条断言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7295" cy="10972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89410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企业级 CMS 内容管理系统 ｜ 文章内容与多级审核发布 · 公共基础设施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11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98448"/>
            <a:ext cx="26974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98448"/>
            <a:ext cx="2697480" cy="54864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269748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44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59152"/>
            <a:ext cx="2423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条规范清单自检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（通过 46 / 未通过 3 / 部分 6）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9272" y="1298448"/>
            <a:ext cx="26974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9272" y="1298448"/>
            <a:ext cx="2697480" cy="54864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9272" y="1536192"/>
            <a:ext cx="269748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44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321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2359152"/>
            <a:ext cx="2423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个单元测试用例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（21 个测试类）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1298448"/>
            <a:ext cx="26974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1298448"/>
            <a:ext cx="2697480" cy="5486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1344" y="1536192"/>
            <a:ext cx="269748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44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496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2359152"/>
            <a:ext cx="2423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条回归断言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FAIL = 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43416" y="1298448"/>
            <a:ext cx="26974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43416" y="1298448"/>
            <a:ext cx="2697480" cy="54864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43416" y="1536192"/>
            <a:ext cx="269748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4400" b="1">
                <a:solidFill>
                  <a:srgbClr val="D9534F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2359152"/>
            <a:ext cx="2423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项缺陷登记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（闭环 10 项，无致命）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401568"/>
            <a:ext cx="5486400" cy="1920240"/>
          </a:xfrm>
          <a:prstGeom prst="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401568"/>
            <a:ext cx="5486400" cy="5486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3584448"/>
            <a:ext cx="51572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测试纪律（让数字可信的前提）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3968496"/>
            <a:ext cx="5157216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@Transactional 加在测试类上 → 每个用例结束自动回滚，反复跑数据库行数不变。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乱序复跑验证「不依赖执行顺序」，避免用例之间互相依赖。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覆盖率不作为目标，只要求核心 Service + 状态机 + 异常分支有测试。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3401568"/>
            <a:ext cx="5559552" cy="1920240"/>
          </a:xfrm>
          <a:prstGeom prst="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3401568"/>
            <a:ext cx="5559552" cy="54864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3584448"/>
            <a:ext cx="5230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接口规范统一性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3968496"/>
            <a:ext cx="5230368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28 个端点全部同构：统一返回体 Result&lt;T&gt;{code, message, data, timestamp}。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双层错误码：100~599 同步 HTTP 状态；10xxx~14xxx 保持 HTTP 200。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D9534F"/>
                </a:solidFill>
                <a:latin typeface="微软雅黑"/>
                <a:ea typeface="微软雅黑"/>
                <a:cs typeface="微软雅黑"/>
              </a:rPr>
              <a:t>3 条未通过的规范项也写明理由，不假装全通过。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577840"/>
            <a:ext cx="11277295" cy="47548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669279"/>
            <a:ext cx="108749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回归测试报告：12 项场景全跑、496 条断言 FAIL =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3D7BD9"/>
                </a:solidFill>
                <a:latin typeface="微软雅黑"/>
                <a:ea typeface="微软雅黑"/>
                <a:cs typeface="微软雅黑"/>
              </a:rPr>
              <a:t>10　AI 应用说明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AI 负责产出，人负责判断与验证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7295" cy="10972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89410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企业级 CMS 内容管理系统 ｜ 文章内容与多级审核发布 · 公共基础设施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12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98448"/>
            <a:ext cx="3602736" cy="1874519"/>
          </a:xfrm>
          <a:prstGeom prst="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98448"/>
            <a:ext cx="3602736" cy="54864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81328"/>
            <a:ext cx="32735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AI 承担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65376"/>
            <a:ext cx="3273552" cy="11612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样板代码与 CRUD 骨架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文档初稿、mermaid 图、规范清单整理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取数脚本与测试脚本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报错解释与排查方向建议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98448"/>
            <a:ext cx="3602736" cy="1874519"/>
          </a:xfrm>
          <a:prstGeom prst="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98448"/>
            <a:ext cx="3602736" cy="54864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481328"/>
            <a:ext cx="32735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人承担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1865376"/>
            <a:ext cx="3273552" cy="11612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技术选型取舍（Druid / 手写状态机 / 分页方案）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状态机每条迁移的合法性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权限码以库表为准，不以文档为准</a:t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每一条 AI 产出都用实测验证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298448"/>
            <a:ext cx="3593592" cy="1874519"/>
          </a:xfrm>
          <a:prstGeom prst="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298448"/>
            <a:ext cx="3593592" cy="5486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481328"/>
            <a:ext cx="32644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过程痕迹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865376"/>
            <a:ext cx="3264408" cy="11612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docs/AI应用记录.md 共 610 行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分四部分（S19~S22），累计记录 20+ 条 AI 或我方错误及纠正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每条写：做了什么 / 错在哪 / 怎么暴露 / 最终处置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01568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典型「AI 给错、被实测纠正」案例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3703320"/>
          <a:ext cx="11277294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188"/>
                <a:gridCol w="4059826"/>
                <a:gridCol w="3834280"/>
              </a:tblGrid>
              <a:tr h="42062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给错的写法</a:t>
                      </a:r>
                    </a:p>
                  </a:txBody>
                  <a:tcPr marL="73152" marR="73152" anchor="ctr"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怎么暴露的</a:t>
                      </a:r>
                    </a:p>
                  </a:txBody>
                  <a:tcPr marL="73152" marR="73152" anchor="ctr"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最终处置</a:t>
                      </a:r>
                    </a:p>
                  </a:txBody>
                  <a:tcPr marL="73152" marR="73152" anchor="ctr">
                    <a:solidFill>
                      <a:srgbClr val="1E4FA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updateById 不填审计列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清空字段返 200，但库里没改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改用 LambdaUpdateWrapper.set 显式列列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文档注入脚本用文本模式写文件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整份文档 99 增/9 删 变成 620/620 假 diff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一律二进制模式 rb/wb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扫权限注解只往上一行找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 个端点权限全空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改为 mapping 后 5 行内查找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457200" y="5577840"/>
            <a:ext cx="11277295" cy="47548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669279"/>
            <a:ext cx="108749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纪律：AI 写的代码我能逐行讲清楚，讲不清的不采用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3D7BD9"/>
                </a:solidFill>
                <a:latin typeface="微软雅黑"/>
                <a:ea typeface="微软雅黑"/>
                <a:cs typeface="微软雅黑"/>
              </a:rPr>
              <a:t>11　部署与实测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真机部署：44 项校验 + 12 项排期验证 + 故障演练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7295" cy="10972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89410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企业级 CMS 内容管理系统 ｜ 文章内容与多级审核发布 · 公共基础设施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13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98448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98448"/>
            <a:ext cx="2697480" cy="54864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17904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40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24231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项部署校验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PASS=44 / FAIL=0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9272" y="1298448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9272" y="1298448"/>
            <a:ext cx="2697480" cy="54864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9272" y="1517904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40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2286000"/>
            <a:ext cx="24231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项排期验证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PASS=12 / FAIL=0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1298448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1298448"/>
            <a:ext cx="2697480" cy="5486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1344" y="1517904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40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110s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2286000"/>
            <a:ext cx="24231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排期到点自动发布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无人点击按钮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43416" y="1298448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43416" y="1298448"/>
            <a:ext cx="2697480" cy="54864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43416" y="1517904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4000" b="1">
                <a:solidFill>
                  <a:srgbClr val="D9534F"/>
                </a:solidFill>
                <a:latin typeface="微软雅黑"/>
                <a:ea typeface="微软雅黑"/>
                <a:cs typeface="微软雅黑"/>
              </a:rPr>
              <a:t>120s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2286000"/>
            <a:ext cx="24231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库不可用时请求挂起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（maxWait 60s 叠加）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10128"/>
            <a:ext cx="5486400" cy="2011680"/>
          </a:xfrm>
          <a:prstGeom prst="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310128"/>
            <a:ext cx="5486400" cy="5486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3493008"/>
            <a:ext cx="51572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部署链路（顺序不能反）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3877056"/>
            <a:ext cx="5157216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1  建库：mysql &lt; sql/init.sql（幂等，17 张表）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2  前端构建：npm run build → 产物落 src/main/webapp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3  后端打包：mvn package → cms-mis.war（24.4 MB）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4  部署启动：Tomcat 9 + JDK 21，必须 cd 到工程根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3310128"/>
            <a:ext cx="5559552" cy="2011680"/>
          </a:xfrm>
          <a:prstGeom prst="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3310128"/>
            <a:ext cx="5559552" cy="54864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3493008"/>
            <a:ext cx="5230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★ 故障演练：数据库不可用会怎样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3877056"/>
            <a:ext cx="5230368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容器仍能正常启动（连接池懒初始化，不调 init()）。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D9534F"/>
                </a:solidFill>
                <a:latin typeface="微软雅黑"/>
                <a:ea typeface="微软雅黑"/>
                <a:cs typeface="微软雅黑"/>
              </a:rPr>
              <a:t>不查库的接口照常；但 /system/health 仍报 UP —— 健康检查盲区。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查库请求挂 120 秒；后台每 500ms 一条堆栈，日志 430 KB/分钟。</a:t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改进：健康检查真探库、驱动日志限流、maxWait 调小、快速失败。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577840"/>
            <a:ext cx="11277295" cy="47548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669279"/>
            <a:ext cx="108749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以上全部是实测输出，过程证据见 docs/部署记录.md（含 14 项部署后必查清单）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3D7BD9"/>
                </a:solidFill>
                <a:latin typeface="微软雅黑"/>
                <a:ea typeface="微软雅黑"/>
                <a:cs typeface="微软雅黑"/>
              </a:rPr>
              <a:t>12　团队分工与总结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729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做得好的三件事、八项不足、四条改进方向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7295" cy="10972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89410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企业级 CMS 内容管理系统 ｜ 文章内容与多级审核发布 · 公共基础设施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14 / 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98448"/>
          <a:ext cx="557783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238"/>
                <a:gridCol w="4127601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成员</a:t>
                      </a:r>
                    </a:p>
                  </a:txBody>
                  <a:tcPr marL="73152" marR="73152" anchor="ctr"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负责业务域</a:t>
                      </a:r>
                    </a:p>
                  </a:txBody>
                  <a:tcPr marL="73152" marR="73152" anchor="ctr">
                    <a:solidFill>
                      <a:srgbClr val="1E4FA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组长（我）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953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文章内容与多级审核发布 + 公共基础设施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成员B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内容分类与标签体系 + 高级数据处理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成员C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用户角色权限与授权审批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成员D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操作日志审计、数据检索统计、部署</a:t>
                      </a:r>
                    </a:p>
                  </a:txBody>
                  <a:tcPr marL="73152" marR="73152" anchor="ctr"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263640" y="1298448"/>
            <a:ext cx="5468112" cy="2331720"/>
          </a:xfrm>
          <a:prstGeom prst="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298448"/>
            <a:ext cx="5468112" cy="5486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1" y="1481328"/>
            <a:ext cx="5138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★ 做得好的三件事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1865376"/>
            <a:ext cx="5138928" cy="1618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① 主干冻结 + 入户线：四人共用一套基础设施而互不干扰。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② 状态机集中管理：改流程只改一处，非法流转统一拦截。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③ 一切结论都实测：静默失效、假 diff、假 403 全是实测抓出来的。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03904"/>
            <a:ext cx="5577840" cy="1700784"/>
          </a:xfrm>
          <a:prstGeom prst="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03904"/>
            <a:ext cx="5577840" cy="54864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986783"/>
            <a:ext cx="524865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★ 不足（主动说明）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370831"/>
            <a:ext cx="5248655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① 本仓库交付文章域 + 公共基础设施；分类 / 用户 / 日志三域表结构与权限体系已就绪，业务接口待补。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② 审计告警闭环未做；定时任务为单机调度，多实例会重复触发。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③ Git 全程在 main 直提，无分支合并痕迹。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803904"/>
            <a:ext cx="5468112" cy="1700784"/>
          </a:xfrm>
          <a:prstGeom prst="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803904"/>
            <a:ext cx="5468112" cy="54864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1" y="3986783"/>
            <a:ext cx="5138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改进方向与自测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4370831"/>
            <a:ext cx="5138928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补分类与日志接口（潜力 +1.7 分）→ 补告警闭环 → 分支协作流程 → 分布式调度。</a:t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诚实自测：15.3 / 20（良好）；补齐三项可达 18+。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自测表逐条给证据，未做的直接写「未做」并给补救方案。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577840"/>
            <a:ext cx="11277295" cy="47548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669279"/>
            <a:ext cx="108749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谢谢，请老师提问 —— 完整代码与文档已在仓库，可现场打开任意文件核对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